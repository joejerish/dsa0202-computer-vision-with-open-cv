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Tomorrow Bold"/>
      <p:regular r:id="rId201314"/>
    </p:embeddedFont>
    <p:embeddedFont>
      <p:font typeface="Tomorrow ExtraBold"/>
      <p:regular r:id="rId201315"/>
    </p:embeddedFont>
    <p:embeddedFont>
      <p:font typeface="Tomorrow ExtraLight"/>
      <p:regular r:id="rId201316"/>
    </p:embeddedFont>
    <p:embeddedFont>
      <p:font typeface="Tomorrow Light"/>
      <p:regular r:id="rId201317"/>
    </p:embeddedFont>
    <p:embeddedFont>
      <p:font typeface="Tomorrow"/>
      <p:regular r:id="rId201318"/>
    </p:embeddedFont>
    <p:embeddedFont>
      <p:font typeface="Tomorrow Medium"/>
      <p:regular r:id="rId201319"/>
    </p:embeddedFont>
    <p:embeddedFont>
      <p:font typeface="Tomorrow SemiBold"/>
      <p:regular r:id="rId201320"/>
    </p:embeddedFont>
    <p:embeddedFont>
      <p:font typeface="Tomorrow Thin"/>
      <p:regular r:id="rId201321"/>
    </p:embeddedFont>
    <p:embeddedFont>
      <p:font typeface="Tomorrow Black"/>
      <p:regular r:id="rId2013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FEFEF"/>
          </a:solidFill>
          <a:ln/>
        </p:spPr>
      </p:sp>
      <p:sp>
        <p:nvSpPr>
          <p:cNvPr id="3" name="Shape 1"/>
          <p:cNvSpPr/>
          <p:nvPr/>
        </p:nvSpPr>
        <p:spPr>
          <a:xfrm>
            <a:off x="0" y="0"/>
            <a:ext cx="9144000" cy="51435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892722"/>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D1D1B"/>
                </a:solidFill>
                <a:latin typeface="Tomorrow SemiBold" pitchFamily="34" charset="0"/>
                <a:ea typeface="Tomorrow SemiBold" pitchFamily="34" charset="-122"/>
                <a:cs typeface="Tomorrow SemiBold" pitchFamily="34" charset="-120"/>
              </a:rPr>
              <a:t>Drone-Based 3D Mapping: From Pixels to Terrain</a:t>
            </a:r>
            <a:endParaRPr lang="en-US" sz="2400" dirty="0"/>
          </a:p>
        </p:txBody>
      </p:sp>
      <p:sp>
        <p:nvSpPr>
          <p:cNvPr id="4" name="Text 1"/>
          <p:cNvSpPr/>
          <p:nvPr/>
        </p:nvSpPr>
        <p:spPr>
          <a:xfrm>
            <a:off x="496119" y="2853854"/>
            <a:ext cx="4722763" cy="396925"/>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61615C"/>
                </a:solidFill>
                <a:latin typeface="Tomorrow" pitchFamily="34" charset="0"/>
                <a:ea typeface="Tomorrow" pitchFamily="34" charset="-122"/>
                <a:cs typeface="Tomorrow" pitchFamily="34" charset="-120"/>
              </a:rPr>
              <a:t>A concise guide explaining how image formation, binocular vision, and multi-view geometry combine to turn drone photos into accurate 3D terrain models.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495797"/>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D1D1B"/>
                </a:solidFill>
                <a:latin typeface="Tomorrow SemiBold" pitchFamily="34" charset="0"/>
                <a:ea typeface="Tomorrow SemiBold" pitchFamily="34" charset="-122"/>
                <a:cs typeface="Tomorrow SemiBold" pitchFamily="34" charset="-120"/>
              </a:rPr>
              <a:t>Introduction: The Digital Twin Revolution</a:t>
            </a:r>
            <a:endParaRPr lang="en-US" sz="2400" dirty="0"/>
          </a:p>
        </p:txBody>
      </p:sp>
      <p:sp>
        <p:nvSpPr>
          <p:cNvPr id="4" name="Text 1"/>
          <p:cNvSpPr/>
          <p:nvPr/>
        </p:nvSpPr>
        <p:spPr>
          <a:xfrm>
            <a:off x="496119" y="2456929"/>
            <a:ext cx="4722763"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61615C"/>
                </a:solidFill>
                <a:latin typeface="Tomorrow" pitchFamily="34" charset="0"/>
                <a:ea typeface="Tomorrow" pitchFamily="34" charset="-122"/>
                <a:cs typeface="Tomorrow" pitchFamily="34" charset="-120"/>
              </a:rPr>
              <a:t>Drone mapping converts many 2D aerial images into a precise 3D digital twin of the landscape. This transformation reverses the image formation process: instead of projecting 3D scenes to 2D photos, we estimate the 3D scene that produced those photos. The pipeline blends photogrammetry, geometry, flight planning, and optimization to create terrain models used in surveying, construction, agriculture, and environmental monitoring.</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495797"/>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D1D1B"/>
                </a:solidFill>
                <a:latin typeface="Tomorrow SemiBold" pitchFamily="34" charset="0"/>
                <a:ea typeface="Tomorrow SemiBold" pitchFamily="34" charset="-122"/>
                <a:cs typeface="Tomorrow SemiBold" pitchFamily="34" charset="-120"/>
              </a:rPr>
              <a:t>Image Formation: How Cameras See the World</a:t>
            </a:r>
            <a:endParaRPr lang="en-US" sz="2400" dirty="0"/>
          </a:p>
        </p:txBody>
      </p:sp>
      <p:sp>
        <p:nvSpPr>
          <p:cNvPr id="4" name="Text 1"/>
          <p:cNvSpPr/>
          <p:nvPr/>
        </p:nvSpPr>
        <p:spPr>
          <a:xfrm>
            <a:off x="496119" y="2456929"/>
            <a:ext cx="4722763"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61615C"/>
                </a:solidFill>
                <a:latin typeface="Tomorrow" pitchFamily="34" charset="0"/>
                <a:ea typeface="Tomorrow" pitchFamily="34" charset="-122"/>
                <a:cs typeface="Tomorrow" pitchFamily="34" charset="-120"/>
              </a:rPr>
              <a:t>Cameras approximate a pinhole projection: a 3D world point maps to a 2D image point via perspective projection. Key camera parameters govern this mapping — focal length, principal point, lens distortion, and sensor geometry — and must be modeled or calibrated. Because a single photo flattens depth, objects at different heights shift (relief displacement). That ambiguity is resolved by combining multiple images taken from different viewpoints.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129829"/>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1D1D1B"/>
                </a:solidFill>
                <a:latin typeface="Tomorrow SemiBold" pitchFamily="34" charset="0"/>
                <a:ea typeface="Tomorrow SemiBold" pitchFamily="34" charset="-122"/>
                <a:cs typeface="Tomorrow SemiBold" pitchFamily="34" charset="-120"/>
              </a:rPr>
              <a:t>Binocular Vision: Depth from Two Views</a:t>
            </a:r>
            <a:endParaRPr lang="en-US" sz="2400" dirty="0"/>
          </a:p>
        </p:txBody>
      </p:sp>
      <p:pic>
        <p:nvPicPr>
          <p:cNvPr id="3" name="Image 0" descr="preencoded.png">    </p:cNvPr>
          <p:cNvPicPr>
            <a:picLocks noChangeAspect="1"/>
          </p:cNvPicPr>
          <p:nvPr/>
        </p:nvPicPr>
        <p:blipFill>
          <a:blip r:embed="rId1"/>
          <a:stretch>
            <a:fillRect/>
          </a:stretch>
        </p:blipFill>
        <p:spPr>
          <a:xfrm>
            <a:off x="496119" y="1765399"/>
            <a:ext cx="757982" cy="468437"/>
          </a:xfrm>
          <a:prstGeom prst="rect">
            <a:avLst/>
          </a:prstGeom>
        </p:spPr>
      </p:pic>
      <p:sp>
        <p:nvSpPr>
          <p:cNvPr id="4" name="Text 1"/>
          <p:cNvSpPr/>
          <p:nvPr/>
        </p:nvSpPr>
        <p:spPr>
          <a:xfrm>
            <a:off x="1409105" y="1765399"/>
            <a:ext cx="1700882" cy="193849"/>
          </a:xfrm>
          <a:prstGeom prst="rect">
            <a:avLst/>
          </a:prstGeom>
          <a:noFill/>
          <a:ln/>
        </p:spPr>
        <p:txBody>
          <a:bodyPr wrap="none" lIns="0" tIns="0" rIns="0" bIns="0" rtlCol="0" anchor="t"/>
          <a:lstStyle/>
          <a:p>
            <a:pPr algn="l" indent="0" marL="0">
              <a:lnSpc>
                <a:spcPct val="104000"/>
              </a:lnSpc>
              <a:buNone/>
            </a:pPr>
            <a:r>
              <a:rPr lang="en-US" sz="1200" dirty="0">
                <a:solidFill>
                  <a:srgbClr val="61615C"/>
                </a:solidFill>
                <a:latin typeface="Tomorrow SemiBold" pitchFamily="34" charset="0"/>
                <a:ea typeface="Tomorrow SemiBold" pitchFamily="34" charset="-122"/>
                <a:cs typeface="Tomorrow SemiBold" pitchFamily="34" charset="-120"/>
              </a:rPr>
              <a:t>Core idea</a:t>
            </a:r>
            <a:endParaRPr lang="en-US" sz="1200" dirty="0"/>
          </a:p>
        </p:txBody>
      </p:sp>
      <p:sp>
        <p:nvSpPr>
          <p:cNvPr id="5" name="Text 2"/>
          <p:cNvSpPr/>
          <p:nvPr/>
        </p:nvSpPr>
        <p:spPr>
          <a:xfrm>
            <a:off x="1409105" y="2033662"/>
            <a:ext cx="1700882"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61615C"/>
                </a:solidFill>
                <a:latin typeface="Tomorrow" pitchFamily="34" charset="0"/>
                <a:ea typeface="Tomorrow" pitchFamily="34" charset="-122"/>
                <a:cs typeface="Tomorrow" pitchFamily="34" charset="-120"/>
              </a:rPr>
              <a:t>Binocular vision uses two images of the same scene to recover depth by triangulation. Corresponding points in the image pair define rays that intersect in 3D space, giving the 3D location of the scene point.</a:t>
            </a:r>
            <a:endParaRPr lang="en-US" sz="950" dirty="0"/>
          </a:p>
        </p:txBody>
      </p:sp>
      <p:pic>
        <p:nvPicPr>
          <p:cNvPr id="6" name="Image 1" descr="preencoded.png">    </p:cNvPr>
          <p:cNvPicPr>
            <a:picLocks noChangeAspect="1"/>
          </p:cNvPicPr>
          <p:nvPr/>
        </p:nvPicPr>
        <p:blipFill>
          <a:blip r:embed="rId2"/>
          <a:stretch>
            <a:fillRect/>
          </a:stretch>
        </p:blipFill>
        <p:spPr>
          <a:xfrm>
            <a:off x="3264991" y="1765399"/>
            <a:ext cx="757982" cy="468437"/>
          </a:xfrm>
          <a:prstGeom prst="rect">
            <a:avLst/>
          </a:prstGeom>
        </p:spPr>
      </p:pic>
      <p:sp>
        <p:nvSpPr>
          <p:cNvPr id="7" name="Text 3"/>
          <p:cNvSpPr/>
          <p:nvPr/>
        </p:nvSpPr>
        <p:spPr>
          <a:xfrm>
            <a:off x="4177978" y="1765399"/>
            <a:ext cx="1700957" cy="193849"/>
          </a:xfrm>
          <a:prstGeom prst="rect">
            <a:avLst/>
          </a:prstGeom>
          <a:noFill/>
          <a:ln/>
        </p:spPr>
        <p:txBody>
          <a:bodyPr wrap="none" lIns="0" tIns="0" rIns="0" bIns="0" rtlCol="0" anchor="t"/>
          <a:lstStyle/>
          <a:p>
            <a:pPr algn="l" indent="0" marL="0">
              <a:lnSpc>
                <a:spcPct val="104000"/>
              </a:lnSpc>
              <a:buNone/>
            </a:pPr>
            <a:r>
              <a:rPr lang="en-US" sz="1200" dirty="0">
                <a:solidFill>
                  <a:srgbClr val="61615C"/>
                </a:solidFill>
                <a:latin typeface="Tomorrow SemiBold" pitchFamily="34" charset="0"/>
                <a:ea typeface="Tomorrow SemiBold" pitchFamily="34" charset="-122"/>
                <a:cs typeface="Tomorrow SemiBold" pitchFamily="34" charset="-120"/>
              </a:rPr>
              <a:t>Epipolar geometry</a:t>
            </a:r>
            <a:endParaRPr lang="en-US" sz="1200" dirty="0"/>
          </a:p>
        </p:txBody>
      </p:sp>
      <p:sp>
        <p:nvSpPr>
          <p:cNvPr id="8" name="Text 4"/>
          <p:cNvSpPr/>
          <p:nvPr/>
        </p:nvSpPr>
        <p:spPr>
          <a:xfrm>
            <a:off x="4177978" y="2033662"/>
            <a:ext cx="1700957"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61615C"/>
                </a:solidFill>
                <a:latin typeface="Tomorrow" pitchFamily="34" charset="0"/>
                <a:ea typeface="Tomorrow" pitchFamily="34" charset="-122"/>
                <a:cs typeface="Tomorrow" pitchFamily="34" charset="-120"/>
              </a:rPr>
              <a:t>Epipolar constraints reduce the search for correspondences: a point in one image must lie along its epipolar line in the other image. This dramatically speeds and stabilizes matching.</a:t>
            </a:r>
            <a:endParaRPr lang="en-US" sz="950" dirty="0"/>
          </a:p>
        </p:txBody>
      </p:sp>
      <p:pic>
        <p:nvPicPr>
          <p:cNvPr id="9" name="Image 2" descr="preencoded.png">    </p:cNvPr>
          <p:cNvPicPr>
            <a:picLocks noChangeAspect="1"/>
          </p:cNvPicPr>
          <p:nvPr/>
        </p:nvPicPr>
        <p:blipFill>
          <a:blip r:embed="rId3"/>
          <a:stretch>
            <a:fillRect/>
          </a:stretch>
        </p:blipFill>
        <p:spPr>
          <a:xfrm>
            <a:off x="6033939" y="1765399"/>
            <a:ext cx="757982" cy="468437"/>
          </a:xfrm>
          <a:prstGeom prst="rect">
            <a:avLst/>
          </a:prstGeom>
        </p:spPr>
      </p:pic>
      <p:sp>
        <p:nvSpPr>
          <p:cNvPr id="10" name="Text 5"/>
          <p:cNvSpPr/>
          <p:nvPr/>
        </p:nvSpPr>
        <p:spPr>
          <a:xfrm>
            <a:off x="6946925" y="1765399"/>
            <a:ext cx="1700957"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61615C"/>
                </a:solidFill>
                <a:latin typeface="Tomorrow SemiBold" pitchFamily="34" charset="0"/>
                <a:ea typeface="Tomorrow SemiBold" pitchFamily="34" charset="-122"/>
                <a:cs typeface="Tomorrow SemiBold" pitchFamily="34" charset="-120"/>
              </a:rPr>
              <a:t>Triangulation &amp; accuracy</a:t>
            </a:r>
            <a:endParaRPr lang="en-US" sz="1200" dirty="0"/>
          </a:p>
        </p:txBody>
      </p:sp>
      <p:sp>
        <p:nvSpPr>
          <p:cNvPr id="11" name="Text 6"/>
          <p:cNvSpPr/>
          <p:nvPr/>
        </p:nvSpPr>
        <p:spPr>
          <a:xfrm>
            <a:off x="6946925" y="2227511"/>
            <a:ext cx="1700957" cy="178616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61615C"/>
                </a:solidFill>
                <a:latin typeface="Tomorrow" pitchFamily="34" charset="0"/>
                <a:ea typeface="Tomorrow" pitchFamily="34" charset="-122"/>
                <a:cs typeface="Tomorrow" pitchFamily="34" charset="-120"/>
              </a:rPr>
              <a:t>Triangulation accuracy improves with baseline (distance between cameras) and image resolution, but wide baselines increase occlusions and matching difficulty. Practical systems balance baseline, overlap, and viewpoints.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396529"/>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D1D1B"/>
                </a:solidFill>
                <a:latin typeface="Tomorrow SemiBold" pitchFamily="34" charset="0"/>
                <a:ea typeface="Tomorrow SemiBold" pitchFamily="34" charset="-122"/>
                <a:cs typeface="Tomorrow SemiBold" pitchFamily="34" charset="-120"/>
              </a:rPr>
              <a:t>Multi-View Geometry: From Pairs to Whole Scenes</a:t>
            </a:r>
            <a:endParaRPr lang="en-US" sz="2400" dirty="0"/>
          </a:p>
        </p:txBody>
      </p:sp>
      <p:sp>
        <p:nvSpPr>
          <p:cNvPr id="4" name="Text 1"/>
          <p:cNvSpPr/>
          <p:nvPr/>
        </p:nvSpPr>
        <p:spPr>
          <a:xfrm>
            <a:off x="496119" y="2357661"/>
            <a:ext cx="4722763"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61615C"/>
                </a:solidFill>
                <a:latin typeface="Tomorrow" pitchFamily="34" charset="0"/>
                <a:ea typeface="Tomorrow" pitchFamily="34" charset="-122"/>
                <a:cs typeface="Tomorrow" pitchFamily="34" charset="-120"/>
              </a:rPr>
              <a:t>Multi-view geometry scales binocular principles across dozens to thousands of images. Feature matching across many views produces a sparse 3D point cloud and camera poses. Bundle adjustment jointly refines all camera parameters and 3D points by minimizing reprojection error — the core optimization that yields coherent, metrically accurate reconstructions. Using many views resolves occlusions, increases surface coverage, and improves detail through redundant observations.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833214"/>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1D1D1B"/>
                </a:solidFill>
                <a:latin typeface="Tomorrow SemiBold" pitchFamily="34" charset="0"/>
                <a:ea typeface="Tomorrow SemiBold" pitchFamily="34" charset="-122"/>
                <a:cs typeface="Tomorrow SemiBold" pitchFamily="34" charset="-120"/>
              </a:rPr>
              <a:t>Drone Acquisition: Practical Flight Strategies</a:t>
            </a:r>
            <a:endParaRPr lang="en-US" sz="2400" dirty="0"/>
          </a:p>
        </p:txBody>
      </p:sp>
      <p:pic>
        <p:nvPicPr>
          <p:cNvPr id="3" name="Image 0" descr="preencoded.png">    </p:cNvPr>
          <p:cNvPicPr>
            <a:picLocks noChangeAspect="1"/>
          </p:cNvPicPr>
          <p:nvPr/>
        </p:nvPicPr>
        <p:blipFill>
          <a:blip r:embed="rId1"/>
          <a:stretch>
            <a:fillRect/>
          </a:stretch>
        </p:blipFill>
        <p:spPr>
          <a:xfrm>
            <a:off x="496119" y="1546324"/>
            <a:ext cx="3501851" cy="2624361"/>
          </a:xfrm>
          <a:prstGeom prst="rect">
            <a:avLst/>
          </a:prstGeom>
        </p:spPr>
      </p:pic>
      <p:sp>
        <p:nvSpPr>
          <p:cNvPr id="4" name="Text 1"/>
          <p:cNvSpPr/>
          <p:nvPr/>
        </p:nvSpPr>
        <p:spPr>
          <a:xfrm>
            <a:off x="4305300" y="1530772"/>
            <a:ext cx="4347270" cy="193849"/>
          </a:xfrm>
          <a:prstGeom prst="rect">
            <a:avLst/>
          </a:prstGeom>
          <a:noFill/>
          <a:ln/>
        </p:spPr>
        <p:txBody>
          <a:bodyPr wrap="none" lIns="0" tIns="0" rIns="0" bIns="0" rtlCol="0" anchor="t"/>
          <a:lstStyle/>
          <a:p>
            <a:pPr algn="l" indent="0" marL="0">
              <a:lnSpc>
                <a:spcPct val="104000"/>
              </a:lnSpc>
              <a:buNone/>
            </a:pPr>
            <a:r>
              <a:rPr lang="en-US" sz="1200" dirty="0">
                <a:solidFill>
                  <a:srgbClr val="1D1D1B"/>
                </a:solidFill>
                <a:latin typeface="Tomorrow SemiBold" pitchFamily="34" charset="0"/>
                <a:ea typeface="Tomorrow SemiBold" pitchFamily="34" charset="-122"/>
                <a:cs typeface="Tomorrow SemiBold" pitchFamily="34" charset="-120"/>
              </a:rPr>
              <a:t>Key acquisition practices</a:t>
            </a:r>
            <a:endParaRPr lang="en-US" sz="1200" dirty="0"/>
          </a:p>
        </p:txBody>
      </p:sp>
      <p:sp>
        <p:nvSpPr>
          <p:cNvPr id="5" name="Text 2"/>
          <p:cNvSpPr/>
          <p:nvPr/>
        </p:nvSpPr>
        <p:spPr>
          <a:xfrm>
            <a:off x="4305300" y="1848594"/>
            <a:ext cx="4347270" cy="1717849"/>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dirty="0">
                <a:solidFill>
                  <a:srgbClr val="61615C"/>
                </a:solidFill>
                <a:latin typeface="Tomorrow" pitchFamily="34" charset="0"/>
                <a:ea typeface="Tomorrow" pitchFamily="34" charset="-122"/>
                <a:cs typeface="Tomorrow" pitchFamily="34" charset="-120"/>
              </a:rPr>
              <a:t>High overlap: ~75% front overlap and ~70% side overlap ensures each ground point appears in multiple frames.</a:t>
            </a:r>
            <a:endParaRPr lang="en-US" sz="950" dirty="0"/>
          </a:p>
          <a:p>
            <a:pPr algn="l" marL="193040" indent="-193040">
              <a:lnSpc>
                <a:spcPct val="133000"/>
              </a:lnSpc>
              <a:buSzPct val="100000"/>
              <a:buChar char="•"/>
            </a:pPr>
            <a:r>
              <a:rPr lang="en-US" sz="950" dirty="0">
                <a:solidFill>
                  <a:srgbClr val="61615C"/>
                </a:solidFill>
                <a:latin typeface="Tomorrow" pitchFamily="34" charset="0"/>
                <a:ea typeface="Tomorrow" pitchFamily="34" charset="-122"/>
                <a:cs typeface="Tomorrow" pitchFamily="34" charset="-120"/>
              </a:rPr>
              <a:t>Varying viewing angles: oblique and nadir images reduce relief displacement and capture vertical structures.</a:t>
            </a:r>
            <a:endParaRPr lang="en-US" sz="950" dirty="0"/>
          </a:p>
          <a:p>
            <a:pPr algn="l" marL="193040" indent="-193040">
              <a:lnSpc>
                <a:spcPct val="133000"/>
              </a:lnSpc>
              <a:buSzPct val="100000"/>
              <a:buChar char="•"/>
            </a:pPr>
            <a:r>
              <a:rPr lang="en-US" sz="950" dirty="0">
                <a:solidFill>
                  <a:srgbClr val="61615C"/>
                </a:solidFill>
                <a:latin typeface="Tomorrow" pitchFamily="34" charset="0"/>
                <a:ea typeface="Tomorrow" pitchFamily="34" charset="-122"/>
                <a:cs typeface="Tomorrow" pitchFamily="34" charset="-120"/>
              </a:rPr>
              <a:t>Ground Control Points (GCPs): surveyed coordinates anchor the model to real-world scale and correct drift.</a:t>
            </a:r>
            <a:endParaRPr lang="en-US" sz="950" dirty="0"/>
          </a:p>
          <a:p>
            <a:pPr algn="l" marL="193040" indent="-193040">
              <a:lnSpc>
                <a:spcPct val="133000"/>
              </a:lnSpc>
              <a:buSzPct val="100000"/>
              <a:buChar char="•"/>
            </a:pPr>
            <a:r>
              <a:rPr lang="en-US" sz="950" dirty="0">
                <a:solidFill>
                  <a:srgbClr val="61615C"/>
                </a:solidFill>
                <a:latin typeface="Tomorrow" pitchFamily="34" charset="0"/>
                <a:ea typeface="Tomorrow" pitchFamily="34" charset="-122"/>
                <a:cs typeface="Tomorrow" pitchFamily="34" charset="-120"/>
              </a:rPr>
              <a:t>Consistent exposure and time-synced cameras simplify matching and radiometric stitching.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495797"/>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D1D1B"/>
                </a:solidFill>
                <a:latin typeface="Tomorrow SemiBold" pitchFamily="34" charset="0"/>
                <a:ea typeface="Tomorrow SemiBold" pitchFamily="34" charset="-122"/>
                <a:cs typeface="Tomorrow SemiBold" pitchFamily="34" charset="-120"/>
              </a:rPr>
              <a:t>Processing Pipeline: From Images to Terrain</a:t>
            </a:r>
            <a:endParaRPr lang="en-US" sz="2400" dirty="0"/>
          </a:p>
        </p:txBody>
      </p:sp>
      <p:sp>
        <p:nvSpPr>
          <p:cNvPr id="4" name="Text 1"/>
          <p:cNvSpPr/>
          <p:nvPr/>
        </p:nvSpPr>
        <p:spPr>
          <a:xfrm>
            <a:off x="496119" y="2456929"/>
            <a:ext cx="4722763"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61615C"/>
                </a:solidFill>
                <a:latin typeface="Tomorrow" pitchFamily="34" charset="0"/>
                <a:ea typeface="Tomorrow" pitchFamily="34" charset="-122"/>
                <a:cs typeface="Tomorrow" pitchFamily="34" charset="-120"/>
              </a:rPr>
              <a:t>Typical processing steps: feature detection (SIFT/ORB), feature matching across images, initial pose estimation (structure-from-motion), bundle adjustment refinement, dense stereo matching to produce a dense point cloud, mesh generation to form surfaces, and texture/orthomosaic creation for visual accuracy. Depth-map fusion merges per-view depth into a consistent surface that captures terrain and structural detail.</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185714"/>
            <a:ext cx="8151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D1D1B"/>
                </a:solidFill>
                <a:latin typeface="Tomorrow SemiBold" pitchFamily="34" charset="0"/>
                <a:ea typeface="Tomorrow SemiBold" pitchFamily="34" charset="-122"/>
                <a:cs typeface="Tomorrow SemiBold" pitchFamily="34" charset="-120"/>
              </a:rPr>
              <a:t>Advances: Learning-Based Planning &amp; Reconstruction</a:t>
            </a:r>
            <a:endParaRPr lang="en-US" sz="2400" dirty="0"/>
          </a:p>
        </p:txBody>
      </p:sp>
      <p:sp>
        <p:nvSpPr>
          <p:cNvPr id="3" name="Text 1"/>
          <p:cNvSpPr/>
          <p:nvPr/>
        </p:nvSpPr>
        <p:spPr>
          <a:xfrm>
            <a:off x="496119" y="2258467"/>
            <a:ext cx="4347270"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61615C"/>
                </a:solidFill>
                <a:latin typeface="Tomorrow" pitchFamily="34" charset="0"/>
                <a:ea typeface="Tomorrow" pitchFamily="34" charset="-122"/>
                <a:cs typeface="Tomorrow" pitchFamily="34" charset="-120"/>
              </a:rPr>
              <a:t>Modern research applies deep learning to two bottlenecks: predicting which viewpoints will yield reliable 3D reconstructions ("reconstructability") and improving dense stereo/depth estimation under challenging lighting or textureless surfaces. Learning-based planners can propose flight paths that maximize coverage and reconstruction quality while minimizing flight time and battery consumption. Neural depth fusion and learned priors help fill gaps where photogrammetry struggles (e.g., glass, water).</a:t>
            </a:r>
            <a:endParaRPr lang="en-US" sz="950" dirty="0"/>
          </a:p>
        </p:txBody>
      </p:sp>
      <p:sp>
        <p:nvSpPr>
          <p:cNvPr id="4" name="Shape 2"/>
          <p:cNvSpPr/>
          <p:nvPr/>
        </p:nvSpPr>
        <p:spPr>
          <a:xfrm>
            <a:off x="5150718" y="2286372"/>
            <a:ext cx="2232794" cy="1240408"/>
          </a:xfrm>
          <a:prstGeom prst="roundRect">
            <a:avLst>
              <a:gd name="adj" fmla="val 1500"/>
            </a:avLst>
          </a:prstGeom>
          <a:solidFill>
            <a:srgbClr val="DFDFE0"/>
          </a:solidFill>
          <a:ln/>
        </p:spPr>
      </p:sp>
      <p:pic>
        <p:nvPicPr>
          <p:cNvPr id="5" name="Image 0" descr="preencoded.png">    </p:cNvPr>
          <p:cNvPicPr>
            <a:picLocks noChangeAspect="1"/>
          </p:cNvPicPr>
          <p:nvPr/>
        </p:nvPicPr>
        <p:blipFill>
          <a:blip r:embed="rId1"/>
          <a:stretch>
            <a:fillRect/>
          </a:stretch>
        </p:blipFill>
        <p:spPr>
          <a:xfrm>
            <a:off x="6195640" y="2775868"/>
            <a:ext cx="142875" cy="142875"/>
          </a:xfrm>
          <a:prstGeom prst="rect">
            <a:avLst/>
          </a:prstGeom>
        </p:spPr>
      </p:pic>
      <p:sp>
        <p:nvSpPr>
          <p:cNvPr id="6" name="Text 3"/>
          <p:cNvSpPr/>
          <p:nvPr/>
        </p:nvSpPr>
        <p:spPr>
          <a:xfrm>
            <a:off x="5385271" y="2977083"/>
            <a:ext cx="1763688" cy="106635"/>
          </a:xfrm>
          <a:prstGeom prst="rect">
            <a:avLst/>
          </a:prstGeom>
          <a:noFill/>
          <a:ln/>
        </p:spPr>
        <p:txBody>
          <a:bodyPr wrap="none" lIns="0" tIns="0" rIns="0" bIns="0" rtlCol="0" anchor="t"/>
          <a:lstStyle/>
          <a:p>
            <a:pPr algn="ctr" indent="0" marL="0">
              <a:lnSpc>
                <a:spcPct val="133000"/>
              </a:lnSpc>
              <a:buNone/>
            </a:pPr>
            <a:r>
              <a:rPr lang="en-US" sz="500" dirty="0">
                <a:solidFill>
                  <a:srgbClr val="AEAEB2"/>
                </a:solidFill>
                <a:latin typeface="Tomorrow" pitchFamily="34" charset="0"/>
                <a:ea typeface="Tomorrow" pitchFamily="34" charset="-122"/>
                <a:cs typeface="Tomorrow" pitchFamily="34" charset="-120"/>
              </a:rPr>
              <a:t>There was an error generating this image</a:t>
            </a:r>
            <a:endParaRPr lang="en-US" sz="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594991"/>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D1D1B"/>
                </a:solidFill>
                <a:latin typeface="Tomorrow SemiBold" pitchFamily="34" charset="0"/>
                <a:ea typeface="Tomorrow SemiBold" pitchFamily="34" charset="-122"/>
                <a:cs typeface="Tomorrow SemiBold" pitchFamily="34" charset="-120"/>
              </a:rPr>
              <a:t>Future Outlook &amp; Practical Considerations</a:t>
            </a:r>
            <a:endParaRPr lang="en-US" sz="2400" dirty="0"/>
          </a:p>
        </p:txBody>
      </p:sp>
      <p:sp>
        <p:nvSpPr>
          <p:cNvPr id="4" name="Text 1"/>
          <p:cNvSpPr/>
          <p:nvPr/>
        </p:nvSpPr>
        <p:spPr>
          <a:xfrm>
            <a:off x="496119" y="2556123"/>
            <a:ext cx="472276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61615C"/>
                </a:solidFill>
                <a:latin typeface="Tomorrow" pitchFamily="34" charset="0"/>
                <a:ea typeface="Tomorrow" pitchFamily="34" charset="-122"/>
                <a:cs typeface="Tomorrow" pitchFamily="34" charset="-120"/>
              </a:rPr>
              <a:t>Expect tighter integration of real-time reconstruction onboard drones, automated GCP alternatives (RTK/PPK GNSS), and smarter planners that adapt mid-flight. Practical deployments must still address regulatory flight limits, variable lighting, reflective surfaces, and terrain with limited texture. Combining LiDAR with imagery is a growing hybrid approach for complex scenes.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835223"/>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1D1D1B"/>
                </a:solidFill>
                <a:latin typeface="Tomorrow SemiBold" pitchFamily="34" charset="0"/>
                <a:ea typeface="Tomorrow SemiBold" pitchFamily="34" charset="-122"/>
                <a:cs typeface="Tomorrow SemiBold" pitchFamily="34" charset="-120"/>
              </a:rPr>
              <a:t>Conclusion &amp; References</a:t>
            </a:r>
            <a:endParaRPr lang="en-US" sz="2400" dirty="0"/>
          </a:p>
        </p:txBody>
      </p:sp>
      <p:sp>
        <p:nvSpPr>
          <p:cNvPr id="3" name="Text 1"/>
          <p:cNvSpPr/>
          <p:nvPr/>
        </p:nvSpPr>
        <p:spPr>
          <a:xfrm>
            <a:off x="496119" y="1470794"/>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61615C"/>
                </a:solidFill>
                <a:latin typeface="Tomorrow" pitchFamily="34" charset="0"/>
                <a:ea typeface="Tomorrow" pitchFamily="34" charset="-122"/>
                <a:cs typeface="Tomorrow" pitchFamily="34" charset="-120"/>
              </a:rPr>
              <a:t>Conclusion: Drone-based 3D mapping depends on accurate models of image formation, the depth cues provided by binocular vision, and the scalability of multi-view geometry. Well-planned acquisition and robust processing pipelines convert overlapping images into precise, actionable terrain models.</a:t>
            </a:r>
            <a:endParaRPr lang="en-US" sz="950" dirty="0"/>
          </a:p>
        </p:txBody>
      </p:sp>
      <p:sp>
        <p:nvSpPr>
          <p:cNvPr id="4" name="Shape 2"/>
          <p:cNvSpPr/>
          <p:nvPr/>
        </p:nvSpPr>
        <p:spPr>
          <a:xfrm>
            <a:off x="496119" y="2236663"/>
            <a:ext cx="8151763" cy="14288"/>
          </a:xfrm>
          <a:prstGeom prst="roundRect">
            <a:avLst>
              <a:gd name="adj" fmla="val 59998"/>
            </a:avLst>
          </a:prstGeom>
          <a:solidFill>
            <a:srgbClr val="61615C">
              <a:alpha val="50000"/>
            </a:srgbClr>
          </a:solidFill>
          <a:ln/>
        </p:spPr>
      </p:sp>
      <p:sp>
        <p:nvSpPr>
          <p:cNvPr id="5" name="Text 3"/>
          <p:cNvSpPr/>
          <p:nvPr/>
        </p:nvSpPr>
        <p:spPr>
          <a:xfrm>
            <a:off x="496119" y="2467942"/>
            <a:ext cx="8151763" cy="193849"/>
          </a:xfrm>
          <a:prstGeom prst="rect">
            <a:avLst/>
          </a:prstGeom>
          <a:noFill/>
          <a:ln/>
        </p:spPr>
        <p:txBody>
          <a:bodyPr wrap="none" lIns="0" tIns="0" rIns="0" bIns="0" rtlCol="0" anchor="t"/>
          <a:lstStyle/>
          <a:p>
            <a:pPr algn="l" indent="0" marL="0">
              <a:lnSpc>
                <a:spcPct val="104000"/>
              </a:lnSpc>
              <a:buNone/>
            </a:pPr>
            <a:r>
              <a:rPr lang="en-US" sz="1200" dirty="0">
                <a:solidFill>
                  <a:srgbClr val="1D1D1B"/>
                </a:solidFill>
                <a:latin typeface="Tomorrow SemiBold" pitchFamily="34" charset="0"/>
                <a:ea typeface="Tomorrow SemiBold" pitchFamily="34" charset="-122"/>
                <a:cs typeface="Tomorrow SemiBold" pitchFamily="34" charset="-120"/>
              </a:rPr>
              <a:t>Selected references (Google Scholar)</a:t>
            </a:r>
            <a:endParaRPr lang="en-US" sz="1200" dirty="0"/>
          </a:p>
        </p:txBody>
      </p:sp>
      <p:sp>
        <p:nvSpPr>
          <p:cNvPr id="6" name="Text 4"/>
          <p:cNvSpPr/>
          <p:nvPr/>
        </p:nvSpPr>
        <p:spPr>
          <a:xfrm>
            <a:off x="496119" y="2847826"/>
            <a:ext cx="8151763" cy="1122462"/>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dirty="0">
                <a:solidFill>
                  <a:srgbClr val="61615C"/>
                </a:solidFill>
                <a:latin typeface="Tomorrow" pitchFamily="34" charset="0"/>
                <a:ea typeface="Tomorrow" pitchFamily="34" charset="-122"/>
                <a:cs typeface="Tomorrow" pitchFamily="34" charset="-120"/>
              </a:rPr>
              <a:t>Hartley, R., &amp; Zisserman, A. (2004). Multiple View Geometry in Computer Vision. Cambridge University Press.</a:t>
            </a:r>
            <a:endParaRPr lang="en-US" sz="950" dirty="0"/>
          </a:p>
          <a:p>
            <a:pPr algn="l" marL="193040" indent="-193040">
              <a:lnSpc>
                <a:spcPct val="133000"/>
              </a:lnSpc>
              <a:buSzPct val="100000"/>
              <a:buChar char="•"/>
            </a:pPr>
            <a:r>
              <a:rPr lang="en-US" sz="950" dirty="0">
                <a:solidFill>
                  <a:srgbClr val="61615C"/>
                </a:solidFill>
                <a:latin typeface="Tomorrow" pitchFamily="34" charset="0"/>
                <a:ea typeface="Tomorrow" pitchFamily="34" charset="-122"/>
                <a:cs typeface="Tomorrow" pitchFamily="34" charset="-120"/>
              </a:rPr>
              <a:t>Ma, Y., Soatto, S., Kosecka, J., &amp; Sastry, S. S. (2004). An Invitation to 3-D Vision: From Images to Geometric Models. Springer. (originally 2003/2004 editions)</a:t>
            </a:r>
            <a:endParaRPr lang="en-US" sz="950" dirty="0"/>
          </a:p>
          <a:p>
            <a:pPr algn="l" marL="193040" indent="-193040">
              <a:lnSpc>
                <a:spcPct val="133000"/>
              </a:lnSpc>
              <a:buSzPct val="100000"/>
              <a:buChar char="•"/>
            </a:pPr>
            <a:r>
              <a:rPr lang="en-US" sz="950" dirty="0">
                <a:solidFill>
                  <a:srgbClr val="61615C"/>
                </a:solidFill>
                <a:latin typeface="Tomorrow" pitchFamily="34" charset="0"/>
                <a:ea typeface="Tomorrow" pitchFamily="34" charset="-122"/>
                <a:cs typeface="Tomorrow" pitchFamily="34" charset="-120"/>
              </a:rPr>
              <a:t>F. Remondino &amp; S. El-Hakim (2006). Image-based 3D modelling: A review. The Photogrammetric Record.</a:t>
            </a:r>
            <a:endParaRPr lang="en-US" sz="950" dirty="0"/>
          </a:p>
          <a:p>
            <a:pPr algn="l" marL="193040" indent="-193040">
              <a:lnSpc>
                <a:spcPct val="133000"/>
              </a:lnSpc>
              <a:buSzPct val="100000"/>
              <a:buChar char="•"/>
            </a:pPr>
            <a:r>
              <a:rPr lang="en-US" sz="950" dirty="0">
                <a:solidFill>
                  <a:srgbClr val="61615C"/>
                </a:solidFill>
                <a:latin typeface="Tomorrow" pitchFamily="34" charset="0"/>
                <a:ea typeface="Tomorrow" pitchFamily="34" charset="-122"/>
                <a:cs typeface="Tomorrow" pitchFamily="34" charset="-120"/>
              </a:rPr>
              <a:t>S. Agarwal et al. (2011). Building Rome in a Day. Communications of the ACM (example multi-view SfM scaling paper).</a:t>
            </a:r>
            <a:endParaRPr lang="en-US" sz="950" dirty="0"/>
          </a:p>
        </p:txBody>
      </p:sp>
      <p:sp>
        <p:nvSpPr>
          <p:cNvPr id="7" name="Text 5"/>
          <p:cNvSpPr/>
          <p:nvPr/>
        </p:nvSpPr>
        <p:spPr>
          <a:xfrm>
            <a:off x="267519" y="4109814"/>
            <a:ext cx="8608963" cy="198462"/>
          </a:xfrm>
          <a:prstGeom prst="rect">
            <a:avLst/>
          </a:prstGeom>
          <a:noFill/>
          <a:ln/>
        </p:spPr>
        <p:txBody>
          <a:bodyPr wrap="none" lIns="0" tIns="0" rIns="0" bIns="0" rtlCol="0" anchor="t"/>
          <a:lstStyle/>
          <a:p>
            <a:pPr algn="ctr" indent="0" marL="0">
              <a:lnSpc>
                <a:spcPct val="133000"/>
              </a:lnSpc>
              <a:buNone/>
            </a:pPr>
            <a:r>
              <a:rPr lang="en-US" sz="950" dirty="0">
                <a:solidFill>
                  <a:srgbClr val="61615C"/>
                </a:solidFill>
                <a:latin typeface="Tomorrow" pitchFamily="34" charset="0"/>
                <a:ea typeface="Tomorrow" pitchFamily="34" charset="-122"/>
                <a:cs typeface="Tomorrow" pitchFamily="34" charset="-120"/>
              </a:rPr>
              <a:t>For deeper reading, search each title on Google Scholar for the original papers and newer works building on these foundations.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2026-07-14T05:54:37Z</dcterms:created>
  <dcterms:modified xsi:type="dcterms:W3CDTF">2026-07-14T05:54:37Z</dcterms:modified>
</cp:coreProperties>
</file>